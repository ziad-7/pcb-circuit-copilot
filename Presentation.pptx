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Sriracha" charset="1" panose="00000500000000000000"/>
      <p:regular r:id="rId14"/>
    </p:embeddedFont>
    <p:embeddedFont>
      <p:font typeface="Benne" charset="1" panose="00000500000000000000"/>
      <p:regular r:id="rId15"/>
    </p:embeddedFont>
    <p:embeddedFont>
      <p:font typeface="Proxima Nova Bold" charset="1" panose="0200050603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01077" y="0"/>
            <a:ext cx="11861321" cy="10287000"/>
          </a:xfrm>
          <a:custGeom>
            <a:avLst/>
            <a:gdLst/>
            <a:ahLst/>
            <a:cxnLst/>
            <a:rect r="r" b="b" t="t" l="l"/>
            <a:pathLst>
              <a:path h="10287000" w="11861321">
                <a:moveTo>
                  <a:pt x="0" y="0"/>
                </a:moveTo>
                <a:lnTo>
                  <a:pt x="11861320" y="0"/>
                </a:lnTo>
                <a:lnTo>
                  <a:pt x="118613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52609" y="9258300"/>
            <a:ext cx="5064805" cy="683749"/>
          </a:xfrm>
          <a:custGeom>
            <a:avLst/>
            <a:gdLst/>
            <a:ahLst/>
            <a:cxnLst/>
            <a:rect r="r" b="b" t="t" l="l"/>
            <a:pathLst>
              <a:path h="683749" w="5064805">
                <a:moveTo>
                  <a:pt x="0" y="0"/>
                </a:moveTo>
                <a:lnTo>
                  <a:pt x="5064804" y="0"/>
                </a:lnTo>
                <a:lnTo>
                  <a:pt x="5064804" y="683749"/>
                </a:lnTo>
                <a:lnTo>
                  <a:pt x="0" y="6837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827774">
            <a:off x="4917559" y="2732453"/>
            <a:ext cx="8072262" cy="517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58"/>
              </a:lnSpc>
            </a:pPr>
            <a:r>
              <a:rPr lang="en-US" sz="14256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 Ci</a:t>
            </a:r>
            <a:r>
              <a:rPr lang="en-US" sz="14256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rcuit &amp; PCB Lab Copilot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54496" y="1210580"/>
            <a:ext cx="2762018" cy="1326920"/>
          </a:xfrm>
          <a:custGeom>
            <a:avLst/>
            <a:gdLst/>
            <a:ahLst/>
            <a:cxnLst/>
            <a:rect r="r" b="b" t="t" l="l"/>
            <a:pathLst>
              <a:path h="1326920" w="2762018">
                <a:moveTo>
                  <a:pt x="0" y="0"/>
                </a:moveTo>
                <a:lnTo>
                  <a:pt x="2762018" y="0"/>
                </a:lnTo>
                <a:lnTo>
                  <a:pt x="2762018" y="1326919"/>
                </a:lnTo>
                <a:lnTo>
                  <a:pt x="0" y="1326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34499" y="2102125"/>
            <a:ext cx="3613169" cy="1725288"/>
          </a:xfrm>
          <a:custGeom>
            <a:avLst/>
            <a:gdLst/>
            <a:ahLst/>
            <a:cxnLst/>
            <a:rect r="r" b="b" t="t" l="l"/>
            <a:pathLst>
              <a:path h="1725288" w="3613169">
                <a:moveTo>
                  <a:pt x="0" y="0"/>
                </a:moveTo>
                <a:lnTo>
                  <a:pt x="3613169" y="0"/>
                </a:lnTo>
                <a:lnTo>
                  <a:pt x="3613169" y="1725288"/>
                </a:lnTo>
                <a:lnTo>
                  <a:pt x="0" y="17252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00918" y="4973051"/>
            <a:ext cx="5740567" cy="5448320"/>
          </a:xfrm>
          <a:custGeom>
            <a:avLst/>
            <a:gdLst/>
            <a:ahLst/>
            <a:cxnLst/>
            <a:rect r="r" b="b" t="t" l="l"/>
            <a:pathLst>
              <a:path h="5448320" w="5740567">
                <a:moveTo>
                  <a:pt x="0" y="0"/>
                </a:moveTo>
                <a:lnTo>
                  <a:pt x="5740567" y="0"/>
                </a:lnTo>
                <a:lnTo>
                  <a:pt x="5740567" y="5448320"/>
                </a:lnTo>
                <a:lnTo>
                  <a:pt x="0" y="54483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800324" y="5234997"/>
            <a:ext cx="5549622" cy="5186374"/>
          </a:xfrm>
          <a:custGeom>
            <a:avLst/>
            <a:gdLst/>
            <a:ahLst/>
            <a:cxnLst/>
            <a:rect r="r" b="b" t="t" l="l"/>
            <a:pathLst>
              <a:path h="5186374" w="5549622">
                <a:moveTo>
                  <a:pt x="5549622" y="0"/>
                </a:moveTo>
                <a:lnTo>
                  <a:pt x="0" y="0"/>
                </a:lnTo>
                <a:lnTo>
                  <a:pt x="0" y="5186374"/>
                </a:lnTo>
                <a:lnTo>
                  <a:pt x="5549622" y="5186374"/>
                </a:lnTo>
                <a:lnTo>
                  <a:pt x="5549622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-2957204" y="1174314"/>
            <a:ext cx="6531454" cy="2291946"/>
          </a:xfrm>
          <a:custGeom>
            <a:avLst/>
            <a:gdLst/>
            <a:ahLst/>
            <a:cxnLst/>
            <a:rect r="r" b="b" t="t" l="l"/>
            <a:pathLst>
              <a:path h="2291946" w="6531454">
                <a:moveTo>
                  <a:pt x="0" y="2291947"/>
                </a:moveTo>
                <a:lnTo>
                  <a:pt x="6531453" y="2291947"/>
                </a:lnTo>
                <a:lnTo>
                  <a:pt x="6531453" y="0"/>
                </a:lnTo>
                <a:lnTo>
                  <a:pt x="0" y="0"/>
                </a:lnTo>
                <a:lnTo>
                  <a:pt x="0" y="2291947"/>
                </a:lnTo>
                <a:close/>
              </a:path>
            </a:pathLst>
          </a:custGeom>
          <a:blipFill>
            <a:blip r:embed="rId9">
              <a:alphaModFix amt="53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406982">
            <a:off x="14057457" y="-655673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3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874109" y="5932467"/>
            <a:ext cx="200756" cy="2007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89737" y="5932467"/>
            <a:ext cx="200756" cy="20075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067172" y="5947120"/>
            <a:ext cx="315056" cy="31505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75573" y="5932467"/>
            <a:ext cx="315056" cy="31505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-827774">
            <a:off x="6518023" y="8129529"/>
            <a:ext cx="6139355" cy="45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0"/>
              </a:lnSpc>
            </a:pPr>
            <a:r>
              <a:rPr lang="en-US" sz="3602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By: Z</a:t>
            </a:r>
            <a:r>
              <a:rPr lang="en-US" sz="3602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iad Ahmed Rabie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73531" y="3884392"/>
            <a:ext cx="9628295" cy="483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21" indent="-302261" lvl="1">
              <a:lnSpc>
                <a:spcPts val="3500"/>
              </a:lnSpc>
              <a:buFont typeface="Arial"/>
              <a:buChar char="•"/>
            </a:pPr>
            <a:r>
              <a:rPr lang="en-US" sz="2800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Ha</a:t>
            </a:r>
            <a:r>
              <a:rPr lang="en-US" sz="2800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rd to Identify: Laser-etched SMD chips and tiny components are difficult to read manually.</a:t>
            </a:r>
          </a:p>
          <a:p>
            <a:pPr algn="just">
              <a:lnSpc>
                <a:spcPts val="3500"/>
              </a:lnSpc>
            </a:pPr>
          </a:p>
          <a:p>
            <a:pPr algn="just" marL="604521" indent="-302261" lvl="1">
              <a:lnSpc>
                <a:spcPts val="3500"/>
              </a:lnSpc>
              <a:buFont typeface="Arial"/>
              <a:buChar char="•"/>
            </a:pPr>
            <a:r>
              <a:rPr lang="en-US" sz="2800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Scattered Manuals: Finding pinouts and voltage limits in 80+ page manufacturer PDFs wastes lab time.</a:t>
            </a:r>
          </a:p>
          <a:p>
            <a:pPr algn="just">
              <a:lnSpc>
                <a:spcPts val="3500"/>
              </a:lnSpc>
            </a:pPr>
          </a:p>
          <a:p>
            <a:pPr algn="just" marL="604521" indent="-302261" lvl="1">
              <a:lnSpc>
                <a:spcPts val="3500"/>
              </a:lnSpc>
              <a:buFont typeface="Arial"/>
              <a:buChar char="•"/>
            </a:pPr>
            <a:r>
              <a:rPr lang="en-US" sz="2800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Risk of Damaged Parts: Wiring a pin incorrectly or exceeding voltage limits burns physical components.</a:t>
            </a:r>
          </a:p>
          <a:p>
            <a:pPr algn="just">
              <a:lnSpc>
                <a:spcPts val="3500"/>
              </a:lnSpc>
            </a:pPr>
          </a:p>
          <a:p>
            <a:pPr algn="just" marL="604521" indent="-302261" lvl="1">
              <a:lnSpc>
                <a:spcPts val="3500"/>
              </a:lnSpc>
              <a:buFont typeface="Arial"/>
              <a:buChar char="•"/>
            </a:pPr>
            <a:r>
              <a:rPr lang="en-US" sz="2800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Generic AI Hallucinates: ChatGPT and cloud LLMs make up pin numbers and false electrical limits.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98048" y="-257580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29" y="0"/>
                </a:lnTo>
                <a:lnTo>
                  <a:pt x="406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710976" y="5900332"/>
            <a:ext cx="3577024" cy="3623137"/>
          </a:xfrm>
          <a:custGeom>
            <a:avLst/>
            <a:gdLst/>
            <a:ahLst/>
            <a:cxnLst/>
            <a:rect r="r" b="b" t="t" l="l"/>
            <a:pathLst>
              <a:path h="3623137" w="3577024">
                <a:moveTo>
                  <a:pt x="3577024" y="0"/>
                </a:moveTo>
                <a:lnTo>
                  <a:pt x="0" y="0"/>
                </a:lnTo>
                <a:lnTo>
                  <a:pt x="0" y="3623137"/>
                </a:lnTo>
                <a:lnTo>
                  <a:pt x="3577024" y="3623137"/>
                </a:lnTo>
                <a:lnTo>
                  <a:pt x="3577024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01826" y="1256357"/>
            <a:ext cx="2825659" cy="1356316"/>
          </a:xfrm>
          <a:custGeom>
            <a:avLst/>
            <a:gdLst/>
            <a:ahLst/>
            <a:cxnLst/>
            <a:rect r="r" b="b" t="t" l="l"/>
            <a:pathLst>
              <a:path h="1356316" w="2825659">
                <a:moveTo>
                  <a:pt x="0" y="0"/>
                </a:moveTo>
                <a:lnTo>
                  <a:pt x="2825659" y="0"/>
                </a:lnTo>
                <a:lnTo>
                  <a:pt x="2825659" y="1356316"/>
                </a:lnTo>
                <a:lnTo>
                  <a:pt x="0" y="1356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99076" y="1323032"/>
            <a:ext cx="8903124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8000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27457" y="3048327"/>
            <a:ext cx="10120443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3399" b="true">
                <a:solidFill>
                  <a:srgbClr val="30447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</a:t>
            </a:r>
            <a:r>
              <a:rPr lang="en-US" b="true" sz="3399">
                <a:solidFill>
                  <a:srgbClr val="30447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rdware Prototyping Bottlenecks: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-857184" y="5357250"/>
            <a:ext cx="5549622" cy="5186374"/>
          </a:xfrm>
          <a:custGeom>
            <a:avLst/>
            <a:gdLst/>
            <a:ahLst/>
            <a:cxnLst/>
            <a:rect r="r" b="b" t="t" l="l"/>
            <a:pathLst>
              <a:path h="5186374" w="5549622">
                <a:moveTo>
                  <a:pt x="5549622" y="0"/>
                </a:moveTo>
                <a:lnTo>
                  <a:pt x="0" y="0"/>
                </a:lnTo>
                <a:lnTo>
                  <a:pt x="0" y="5186374"/>
                </a:lnTo>
                <a:lnTo>
                  <a:pt x="5549622" y="5186374"/>
                </a:lnTo>
                <a:lnTo>
                  <a:pt x="554962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60099" y="6057594"/>
            <a:ext cx="315056" cy="31505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79966" y="6067119"/>
            <a:ext cx="315056" cy="3150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27122" y="2479666"/>
            <a:ext cx="9136532" cy="1892709"/>
          </a:xfrm>
          <a:custGeom>
            <a:avLst/>
            <a:gdLst/>
            <a:ahLst/>
            <a:cxnLst/>
            <a:rect r="r" b="b" t="t" l="l"/>
            <a:pathLst>
              <a:path h="1892709" w="9136532">
                <a:moveTo>
                  <a:pt x="0" y="0"/>
                </a:moveTo>
                <a:lnTo>
                  <a:pt x="9136531" y="0"/>
                </a:lnTo>
                <a:lnTo>
                  <a:pt x="9136531" y="1892709"/>
                </a:lnTo>
                <a:lnTo>
                  <a:pt x="0" y="1892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23962" y="2910205"/>
            <a:ext cx="88335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21" indent="-302261" lvl="1">
              <a:lnSpc>
                <a:spcPts val="35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Benne"/>
                <a:ea typeface="Benne"/>
                <a:cs typeface="Benne"/>
                <a:sym typeface="Benne"/>
              </a:rPr>
              <a:t>1. Pe</a:t>
            </a:r>
            <a:r>
              <a:rPr lang="en-US" sz="2800">
                <a:solidFill>
                  <a:srgbClr val="FFFFFF"/>
                </a:solidFill>
                <a:latin typeface="Benne"/>
                <a:ea typeface="Benne"/>
                <a:cs typeface="Benne"/>
                <a:sym typeface="Benne"/>
              </a:rPr>
              <a:t>rception: Custom YOLOv8 detects 21 component classes; OCR fallback reads laser-etched chip IDs.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22418" y="1095375"/>
            <a:ext cx="10543707" cy="227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8000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Sy</a:t>
            </a:r>
            <a:r>
              <a:rPr lang="en-US" sz="8000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stem Architecture</a:t>
            </a:r>
          </a:p>
          <a:p>
            <a:pPr algn="ctr">
              <a:lnSpc>
                <a:spcPts val="888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3935950" y="5936339"/>
            <a:ext cx="4817033" cy="4291539"/>
          </a:xfrm>
          <a:custGeom>
            <a:avLst/>
            <a:gdLst/>
            <a:ahLst/>
            <a:cxnLst/>
            <a:rect r="r" b="b" t="t" l="l"/>
            <a:pathLst>
              <a:path h="4291539" w="4817033">
                <a:moveTo>
                  <a:pt x="4817033" y="0"/>
                </a:moveTo>
                <a:lnTo>
                  <a:pt x="0" y="0"/>
                </a:lnTo>
                <a:lnTo>
                  <a:pt x="0" y="4291539"/>
                </a:lnTo>
                <a:lnTo>
                  <a:pt x="4817033" y="4291539"/>
                </a:lnTo>
                <a:lnTo>
                  <a:pt x="481703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3263793" y="5842273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4258820" y="1696559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35950" y="1249323"/>
            <a:ext cx="2140261" cy="1025853"/>
          </a:xfrm>
          <a:custGeom>
            <a:avLst/>
            <a:gdLst/>
            <a:ahLst/>
            <a:cxnLst/>
            <a:rect r="r" b="b" t="t" l="l"/>
            <a:pathLst>
              <a:path h="1025853" w="2140261">
                <a:moveTo>
                  <a:pt x="0" y="0"/>
                </a:moveTo>
                <a:lnTo>
                  <a:pt x="2140260" y="0"/>
                </a:lnTo>
                <a:lnTo>
                  <a:pt x="2140260" y="1025853"/>
                </a:lnTo>
                <a:lnTo>
                  <a:pt x="0" y="1025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7292" y="4725077"/>
            <a:ext cx="3309173" cy="1071345"/>
          </a:xfrm>
          <a:custGeom>
            <a:avLst/>
            <a:gdLst/>
            <a:ahLst/>
            <a:cxnLst/>
            <a:rect r="r" b="b" t="t" l="l"/>
            <a:pathLst>
              <a:path h="1071345" w="3309173">
                <a:moveTo>
                  <a:pt x="0" y="0"/>
                </a:moveTo>
                <a:lnTo>
                  <a:pt x="3309173" y="0"/>
                </a:lnTo>
                <a:lnTo>
                  <a:pt x="3309173" y="1071344"/>
                </a:lnTo>
                <a:lnTo>
                  <a:pt x="0" y="10713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976164" y="6925507"/>
            <a:ext cx="257574" cy="25757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689073" y="7010953"/>
            <a:ext cx="229609" cy="22960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20203" y="793124"/>
            <a:ext cx="1602215" cy="1686542"/>
          </a:xfrm>
          <a:custGeom>
            <a:avLst/>
            <a:gdLst/>
            <a:ahLst/>
            <a:cxnLst/>
            <a:rect r="r" b="b" t="t" l="l"/>
            <a:pathLst>
              <a:path h="1686542" w="1602215">
                <a:moveTo>
                  <a:pt x="0" y="0"/>
                </a:moveTo>
                <a:lnTo>
                  <a:pt x="1602215" y="0"/>
                </a:lnTo>
                <a:lnTo>
                  <a:pt x="1602215" y="1686542"/>
                </a:lnTo>
                <a:lnTo>
                  <a:pt x="0" y="16865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768591" y="4372375"/>
            <a:ext cx="9136532" cy="1892709"/>
          </a:xfrm>
          <a:custGeom>
            <a:avLst/>
            <a:gdLst/>
            <a:ahLst/>
            <a:cxnLst/>
            <a:rect r="r" b="b" t="t" l="l"/>
            <a:pathLst>
              <a:path h="1892709" w="9136532">
                <a:moveTo>
                  <a:pt x="0" y="0"/>
                </a:moveTo>
                <a:lnTo>
                  <a:pt x="9136531" y="0"/>
                </a:lnTo>
                <a:lnTo>
                  <a:pt x="9136531" y="1892709"/>
                </a:lnTo>
                <a:lnTo>
                  <a:pt x="0" y="1892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665431" y="4802914"/>
            <a:ext cx="88335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21" indent="-302261" lvl="1">
              <a:lnSpc>
                <a:spcPts val="35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Benne"/>
                <a:ea typeface="Benne"/>
                <a:cs typeface="Benne"/>
                <a:sym typeface="Benne"/>
              </a:rPr>
              <a:t>2. R</a:t>
            </a:r>
            <a:r>
              <a:rPr lang="en-US" sz="2800">
                <a:solidFill>
                  <a:srgbClr val="FFFFFF"/>
                </a:solidFill>
                <a:latin typeface="Benne"/>
                <a:ea typeface="Benne"/>
                <a:cs typeface="Benne"/>
                <a:sym typeface="Benne"/>
              </a:rPr>
              <a:t>etrieval: ChromaDB vector store searches official datasheet chunks in under 50ms.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80452" y="6294208"/>
            <a:ext cx="9136532" cy="1892709"/>
          </a:xfrm>
          <a:custGeom>
            <a:avLst/>
            <a:gdLst/>
            <a:ahLst/>
            <a:cxnLst/>
            <a:rect r="r" b="b" t="t" l="l"/>
            <a:pathLst>
              <a:path h="1892709" w="9136532">
                <a:moveTo>
                  <a:pt x="0" y="0"/>
                </a:moveTo>
                <a:lnTo>
                  <a:pt x="9136531" y="0"/>
                </a:lnTo>
                <a:lnTo>
                  <a:pt x="9136531" y="1892709"/>
                </a:lnTo>
                <a:lnTo>
                  <a:pt x="0" y="1892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77292" y="6724747"/>
            <a:ext cx="88335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21" indent="-302261" lvl="1">
              <a:lnSpc>
                <a:spcPts val="35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Benne"/>
                <a:ea typeface="Benne"/>
                <a:cs typeface="Benne"/>
                <a:sym typeface="Benne"/>
              </a:rPr>
              <a:t>3. Grounded R</a:t>
            </a:r>
            <a:r>
              <a:rPr lang="en-US" sz="2800">
                <a:solidFill>
                  <a:srgbClr val="FFFFFF"/>
                </a:solidFill>
                <a:latin typeface="Benne"/>
                <a:ea typeface="Benne"/>
                <a:cs typeface="Benne"/>
                <a:sym typeface="Benne"/>
              </a:rPr>
              <a:t>easoning: Local LLM answers questions using only retrieved datasheet context.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149887" y="8215492"/>
            <a:ext cx="9136532" cy="1892709"/>
          </a:xfrm>
          <a:custGeom>
            <a:avLst/>
            <a:gdLst/>
            <a:ahLst/>
            <a:cxnLst/>
            <a:rect r="r" b="b" t="t" l="l"/>
            <a:pathLst>
              <a:path h="1892709" w="9136532">
                <a:moveTo>
                  <a:pt x="0" y="0"/>
                </a:moveTo>
                <a:lnTo>
                  <a:pt x="9136531" y="0"/>
                </a:lnTo>
                <a:lnTo>
                  <a:pt x="9136531" y="1892709"/>
                </a:lnTo>
                <a:lnTo>
                  <a:pt x="0" y="1892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046727" y="8646031"/>
            <a:ext cx="88335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21" indent="-302261" lvl="1">
              <a:lnSpc>
                <a:spcPts val="35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Benne"/>
                <a:ea typeface="Benne"/>
                <a:cs typeface="Benne"/>
                <a:sym typeface="Benne"/>
              </a:rPr>
              <a:t>4. Strict R</a:t>
            </a:r>
            <a:r>
              <a:rPr lang="en-US" sz="2800">
                <a:solidFill>
                  <a:srgbClr val="FFFFFF"/>
                </a:solidFill>
                <a:latin typeface="Benne"/>
                <a:ea typeface="Benne"/>
                <a:cs typeface="Benne"/>
                <a:sym typeface="Benne"/>
              </a:rPr>
              <a:t>efusal: If information is missing from the datasheet, the system refuses to guess.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048" y="-257580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29" y="0"/>
                </a:lnTo>
                <a:lnTo>
                  <a:pt x="406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54025" y="1658894"/>
            <a:ext cx="2825659" cy="1356316"/>
          </a:xfrm>
          <a:custGeom>
            <a:avLst/>
            <a:gdLst/>
            <a:ahLst/>
            <a:cxnLst/>
            <a:rect r="r" b="b" t="t" l="l"/>
            <a:pathLst>
              <a:path h="1356316" w="2825659">
                <a:moveTo>
                  <a:pt x="0" y="0"/>
                </a:moveTo>
                <a:lnTo>
                  <a:pt x="2825659" y="0"/>
                </a:lnTo>
                <a:lnTo>
                  <a:pt x="2825659" y="1356316"/>
                </a:lnTo>
                <a:lnTo>
                  <a:pt x="0" y="1356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6485" y="3857220"/>
            <a:ext cx="7828954" cy="5845619"/>
          </a:xfrm>
          <a:custGeom>
            <a:avLst/>
            <a:gdLst/>
            <a:ahLst/>
            <a:cxnLst/>
            <a:rect r="r" b="b" t="t" l="l"/>
            <a:pathLst>
              <a:path h="5845619" w="7828954">
                <a:moveTo>
                  <a:pt x="0" y="0"/>
                </a:moveTo>
                <a:lnTo>
                  <a:pt x="7828954" y="0"/>
                </a:lnTo>
                <a:lnTo>
                  <a:pt x="7828954" y="5845619"/>
                </a:lnTo>
                <a:lnTo>
                  <a:pt x="0" y="5845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605439" y="3676650"/>
            <a:ext cx="7831422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21 C</a:t>
            </a:r>
            <a:r>
              <a:rPr lang="en-US" sz="3000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omponent Classes: MCUs, voltage regulators, NE555 timers, op-amps, capacitors, resistors, diodes, LEDs, and headers.</a:t>
            </a:r>
          </a:p>
          <a:p>
            <a:pPr algn="just">
              <a:lnSpc>
                <a:spcPts val="3750"/>
              </a:lnSpc>
            </a:pP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Dual-Path Strategy: YOLOv8 localizes components; OCR reads part numbers directly from chip surfaces.</a:t>
            </a:r>
          </a:p>
          <a:p>
            <a:pPr algn="just">
              <a:lnSpc>
                <a:spcPts val="3750"/>
              </a:lnSpc>
            </a:pP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Performance: Detects up to 47 components on a board in under 150ms.</a:t>
            </a:r>
          </a:p>
          <a:p>
            <a:pPr algn="just">
              <a:lnSpc>
                <a:spcPts val="3750"/>
              </a:lnSpc>
            </a:pPr>
          </a:p>
          <a:p>
            <a:pPr algn="just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Robust: Works on angled shots, busy boards, and varied lab lighting.</a:t>
            </a:r>
          </a:p>
          <a:p>
            <a:pPr algn="just">
              <a:lnSpc>
                <a:spcPts val="375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692438" y="897059"/>
            <a:ext cx="8903124" cy="339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8000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Compute</a:t>
            </a:r>
            <a:r>
              <a:rPr lang="en-US" sz="8000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r Vision (YOLOv8)</a:t>
            </a:r>
          </a:p>
          <a:p>
            <a:pPr algn="ctr">
              <a:lnSpc>
                <a:spcPts val="88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3352" y="5751250"/>
            <a:ext cx="4398345" cy="3966508"/>
          </a:xfrm>
          <a:custGeom>
            <a:avLst/>
            <a:gdLst/>
            <a:ahLst/>
            <a:cxnLst/>
            <a:rect r="r" b="b" t="t" l="l"/>
            <a:pathLst>
              <a:path h="3966508" w="4398345">
                <a:moveTo>
                  <a:pt x="0" y="0"/>
                </a:moveTo>
                <a:lnTo>
                  <a:pt x="4398345" y="0"/>
                </a:lnTo>
                <a:lnTo>
                  <a:pt x="4398345" y="3966507"/>
                </a:lnTo>
                <a:lnTo>
                  <a:pt x="0" y="396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77667" y="-102237"/>
            <a:ext cx="4420665" cy="4420665"/>
          </a:xfrm>
          <a:custGeom>
            <a:avLst/>
            <a:gdLst/>
            <a:ahLst/>
            <a:cxnLst/>
            <a:rect r="r" b="b" t="t" l="l"/>
            <a:pathLst>
              <a:path h="4420665" w="4420665">
                <a:moveTo>
                  <a:pt x="0" y="0"/>
                </a:moveTo>
                <a:lnTo>
                  <a:pt x="4420666" y="0"/>
                </a:lnTo>
                <a:lnTo>
                  <a:pt x="4420666" y="4420665"/>
                </a:lnTo>
                <a:lnTo>
                  <a:pt x="0" y="44206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10333" y="149969"/>
            <a:ext cx="4420665" cy="4420665"/>
          </a:xfrm>
          <a:custGeom>
            <a:avLst/>
            <a:gdLst/>
            <a:ahLst/>
            <a:cxnLst/>
            <a:rect r="r" b="b" t="t" l="l"/>
            <a:pathLst>
              <a:path h="4420665" w="4420665">
                <a:moveTo>
                  <a:pt x="0" y="0"/>
                </a:moveTo>
                <a:lnTo>
                  <a:pt x="4420666" y="0"/>
                </a:lnTo>
                <a:lnTo>
                  <a:pt x="4420666" y="4420666"/>
                </a:lnTo>
                <a:lnTo>
                  <a:pt x="0" y="4420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45874" y="9258300"/>
            <a:ext cx="2883085" cy="713564"/>
          </a:xfrm>
          <a:custGeom>
            <a:avLst/>
            <a:gdLst/>
            <a:ahLst/>
            <a:cxnLst/>
            <a:rect r="r" b="b" t="t" l="l"/>
            <a:pathLst>
              <a:path h="713564" w="2883085">
                <a:moveTo>
                  <a:pt x="0" y="0"/>
                </a:moveTo>
                <a:lnTo>
                  <a:pt x="2883086" y="0"/>
                </a:lnTo>
                <a:lnTo>
                  <a:pt x="2883086" y="713564"/>
                </a:lnTo>
                <a:lnTo>
                  <a:pt x="0" y="7135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4701" y="3207297"/>
            <a:ext cx="10951173" cy="640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249"/>
              </a:lnSpc>
              <a:buFont typeface="Arial"/>
              <a:buChar char="•"/>
            </a:pPr>
            <a:r>
              <a:rPr lang="en-US" sz="3399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OEM Datasheets: Ind</a:t>
            </a:r>
            <a:r>
              <a:rPr lang="en-US" sz="3399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exes official PDFs from Microchip, Texas Instruments, Espressif, and STMicroelectronics.</a:t>
            </a:r>
          </a:p>
          <a:p>
            <a:pPr algn="just">
              <a:lnSpc>
                <a:spcPts val="4249"/>
              </a:lnSpc>
            </a:pPr>
          </a:p>
          <a:p>
            <a:pPr algn="just" marL="734058" indent="-367029" lvl="1">
              <a:lnSpc>
                <a:spcPts val="4249"/>
              </a:lnSpc>
              <a:buFont typeface="Arial"/>
              <a:buChar char="•"/>
            </a:pPr>
            <a:r>
              <a:rPr lang="en-US" sz="3399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500-Token Chunks: Preserves electrical tables, pinout diagrams, and absolute maximum ratings.</a:t>
            </a:r>
          </a:p>
          <a:p>
            <a:pPr algn="just">
              <a:lnSpc>
                <a:spcPts val="4249"/>
              </a:lnSpc>
            </a:pPr>
          </a:p>
          <a:p>
            <a:pPr algn="just" marL="734058" indent="-367029" lvl="1">
              <a:lnSpc>
                <a:spcPts val="4249"/>
              </a:lnSpc>
              <a:buFont typeface="Arial"/>
              <a:buChar char="•"/>
            </a:pPr>
            <a:r>
              <a:rPr lang="en-US" sz="3399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Page-Level Citations: Every answer cites the exact PDF filename and page number for verification.</a:t>
            </a:r>
          </a:p>
          <a:p>
            <a:pPr algn="just">
              <a:lnSpc>
                <a:spcPts val="4249"/>
              </a:lnSpc>
            </a:pPr>
          </a:p>
          <a:p>
            <a:pPr algn="just" marL="734058" indent="-367029" lvl="1">
              <a:lnSpc>
                <a:spcPts val="4249"/>
              </a:lnSpc>
              <a:buFont typeface="Arial"/>
              <a:buChar char="•"/>
            </a:pPr>
            <a:r>
              <a:rPr lang="en-US" sz="3399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Safety Guardrail: The model is programmatically forbidden from guessing pinouts to protect physical hardware.</a:t>
            </a:r>
          </a:p>
          <a:p>
            <a:pPr algn="just">
              <a:lnSpc>
                <a:spcPts val="424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625653" y="1005100"/>
            <a:ext cx="12731152" cy="227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8000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Datash</a:t>
            </a:r>
            <a:r>
              <a:rPr lang="en-US" sz="8000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eet RAG &amp; Guardrails</a:t>
            </a:r>
          </a:p>
          <a:p>
            <a:pPr algn="ctr">
              <a:lnSpc>
                <a:spcPts val="888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775821" y="6730468"/>
            <a:ext cx="315056" cy="3150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0765" y="6730468"/>
            <a:ext cx="315056" cy="3150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8048" y="-257580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29" y="0"/>
                </a:lnTo>
                <a:lnTo>
                  <a:pt x="406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86659" y="1256357"/>
            <a:ext cx="2825659" cy="1356316"/>
          </a:xfrm>
          <a:custGeom>
            <a:avLst/>
            <a:gdLst/>
            <a:ahLst/>
            <a:cxnLst/>
            <a:rect r="r" b="b" t="t" l="l"/>
            <a:pathLst>
              <a:path h="1356316" w="2825659">
                <a:moveTo>
                  <a:pt x="0" y="0"/>
                </a:moveTo>
                <a:lnTo>
                  <a:pt x="2825658" y="0"/>
                </a:lnTo>
                <a:lnTo>
                  <a:pt x="2825658" y="1356316"/>
                </a:lnTo>
                <a:lnTo>
                  <a:pt x="0" y="1356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254" y="3323975"/>
            <a:ext cx="10396055" cy="6611891"/>
          </a:xfrm>
          <a:custGeom>
            <a:avLst/>
            <a:gdLst/>
            <a:ahLst/>
            <a:cxnLst/>
            <a:rect r="r" b="b" t="t" l="l"/>
            <a:pathLst>
              <a:path h="6611891" w="10396055">
                <a:moveTo>
                  <a:pt x="0" y="0"/>
                </a:moveTo>
                <a:lnTo>
                  <a:pt x="10396054" y="0"/>
                </a:lnTo>
                <a:lnTo>
                  <a:pt x="10396054" y="6611890"/>
                </a:lnTo>
                <a:lnTo>
                  <a:pt x="0" y="66118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99742" y="3723049"/>
            <a:ext cx="7804707" cy="5794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6314" indent="-333157" lvl="1">
              <a:lnSpc>
                <a:spcPts val="3857"/>
              </a:lnSpc>
              <a:buFont typeface="Arial"/>
              <a:buChar char="•"/>
            </a:pPr>
            <a:r>
              <a:rPr lang="en-US" sz="3086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Dual-Ca</a:t>
            </a:r>
            <a:r>
              <a:rPr lang="en-US" sz="3086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nvas View: Side-by-side view of raw camera input and YOLOv8 bounding boxes.</a:t>
            </a:r>
          </a:p>
          <a:p>
            <a:pPr algn="just">
              <a:lnSpc>
                <a:spcPts val="3857"/>
              </a:lnSpc>
            </a:pPr>
          </a:p>
          <a:p>
            <a:pPr algn="just" marL="666314" indent="-333157" lvl="1">
              <a:lnSpc>
                <a:spcPts val="3857"/>
              </a:lnSpc>
              <a:buFont typeface="Arial"/>
              <a:buChar char="•"/>
            </a:pPr>
            <a:r>
              <a:rPr lang="en-US" sz="3086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Live Inventory: Real-time counts of detected microcontrollers, passives, and connectors.</a:t>
            </a:r>
          </a:p>
          <a:p>
            <a:pPr algn="just">
              <a:lnSpc>
                <a:spcPts val="3857"/>
              </a:lnSpc>
            </a:pPr>
          </a:p>
          <a:p>
            <a:pPr algn="just" marL="666314" indent="-333157" lvl="1">
              <a:lnSpc>
                <a:spcPts val="3857"/>
              </a:lnSpc>
              <a:buFont typeface="Arial"/>
              <a:buChar char="•"/>
            </a:pPr>
            <a:r>
              <a:rPr lang="en-US" sz="3086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1-Cl</a:t>
            </a:r>
            <a:r>
              <a:rPr lang="en-US" sz="3086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ick Starters: Buttons for instant queries like "Show Pinout", "Check Max Voltage", or "Recommended Decoupling".</a:t>
            </a:r>
          </a:p>
          <a:p>
            <a:pPr algn="just">
              <a:lnSpc>
                <a:spcPts val="3857"/>
              </a:lnSpc>
            </a:pPr>
          </a:p>
          <a:p>
            <a:pPr algn="just" marL="666314" indent="-333157" lvl="1">
              <a:lnSpc>
                <a:spcPts val="3857"/>
              </a:lnSpc>
              <a:buFont typeface="Arial"/>
              <a:buChar char="•"/>
            </a:pPr>
            <a:r>
              <a:rPr lang="en-US" sz="3086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Audit Drawer: Expandable tabs showing exact datasheet excerpts and page numbers.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51811" y="1323032"/>
            <a:ext cx="12184378" cy="227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8000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Engineering Workbench</a:t>
            </a:r>
          </a:p>
          <a:p>
            <a:pPr algn="ctr">
              <a:lnSpc>
                <a:spcPts val="88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2736" y="1350690"/>
            <a:ext cx="4360729" cy="4648064"/>
          </a:xfrm>
          <a:custGeom>
            <a:avLst/>
            <a:gdLst/>
            <a:ahLst/>
            <a:cxnLst/>
            <a:rect r="r" b="b" t="t" l="l"/>
            <a:pathLst>
              <a:path h="4648064" w="4360729">
                <a:moveTo>
                  <a:pt x="0" y="0"/>
                </a:moveTo>
                <a:lnTo>
                  <a:pt x="4360729" y="0"/>
                </a:lnTo>
                <a:lnTo>
                  <a:pt x="4360729" y="4648064"/>
                </a:lnTo>
                <a:lnTo>
                  <a:pt x="0" y="4648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66168" y="6326505"/>
            <a:ext cx="4649947" cy="4303314"/>
          </a:xfrm>
          <a:custGeom>
            <a:avLst/>
            <a:gdLst/>
            <a:ahLst/>
            <a:cxnLst/>
            <a:rect r="r" b="b" t="t" l="l"/>
            <a:pathLst>
              <a:path h="4303314" w="4649947">
                <a:moveTo>
                  <a:pt x="0" y="0"/>
                </a:moveTo>
                <a:lnTo>
                  <a:pt x="4649947" y="0"/>
                </a:lnTo>
                <a:lnTo>
                  <a:pt x="4649947" y="4303315"/>
                </a:lnTo>
                <a:lnTo>
                  <a:pt x="0" y="4303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023089">
            <a:off x="-2817353" y="-440888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42818">
            <a:off x="13410216" y="797481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2837095"/>
            <a:ext cx="2263858" cy="1675255"/>
          </a:xfrm>
          <a:custGeom>
            <a:avLst/>
            <a:gdLst/>
            <a:ahLst/>
            <a:cxnLst/>
            <a:rect r="r" b="b" t="t" l="l"/>
            <a:pathLst>
              <a:path h="1675255" w="2263858">
                <a:moveTo>
                  <a:pt x="0" y="0"/>
                </a:moveTo>
                <a:lnTo>
                  <a:pt x="2263858" y="0"/>
                </a:lnTo>
                <a:lnTo>
                  <a:pt x="2263858" y="1675255"/>
                </a:lnTo>
                <a:lnTo>
                  <a:pt x="0" y="16752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82014" y="6556706"/>
            <a:ext cx="2077286" cy="1329463"/>
          </a:xfrm>
          <a:custGeom>
            <a:avLst/>
            <a:gdLst/>
            <a:ahLst/>
            <a:cxnLst/>
            <a:rect r="r" b="b" t="t" l="l"/>
            <a:pathLst>
              <a:path h="1329463" w="2077286">
                <a:moveTo>
                  <a:pt x="0" y="0"/>
                </a:moveTo>
                <a:lnTo>
                  <a:pt x="2077286" y="0"/>
                </a:lnTo>
                <a:lnTo>
                  <a:pt x="2077286" y="1329464"/>
                </a:lnTo>
                <a:lnTo>
                  <a:pt x="0" y="13294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83779" y="3081655"/>
            <a:ext cx="10120443" cy="720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20416" indent="-410208" lvl="1">
              <a:lnSpc>
                <a:spcPts val="4749"/>
              </a:lnSpc>
              <a:buFont typeface="Arial"/>
              <a:buChar char="•"/>
            </a:pPr>
            <a:r>
              <a:rPr lang="en-US" sz="3799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Sub-50</a:t>
            </a:r>
            <a:r>
              <a:rPr lang="en-US" sz="3799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ms Retrieval: Fast local vector search on standard laptop hardware.</a:t>
            </a:r>
          </a:p>
          <a:p>
            <a:pPr algn="ctr">
              <a:lnSpc>
                <a:spcPts val="4749"/>
              </a:lnSpc>
            </a:pPr>
          </a:p>
          <a:p>
            <a:pPr algn="ctr" marL="820416" indent="-410208" lvl="1">
              <a:lnSpc>
                <a:spcPts val="4749"/>
              </a:lnSpc>
              <a:buFont typeface="Arial"/>
              <a:buChar char="•"/>
            </a:pPr>
            <a:r>
              <a:rPr lang="en-US" sz="3799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98.5% Pinout Accuracy: Zero ungrounded pin hallucinations across 6 test circuit boards.</a:t>
            </a:r>
          </a:p>
          <a:p>
            <a:pPr algn="ctr">
              <a:lnSpc>
                <a:spcPts val="4749"/>
              </a:lnSpc>
            </a:pPr>
          </a:p>
          <a:p>
            <a:pPr algn="ctr" marL="820416" indent="-410208" lvl="1">
              <a:lnSpc>
                <a:spcPts val="4749"/>
              </a:lnSpc>
              <a:buFont typeface="Arial"/>
              <a:buChar char="•"/>
            </a:pPr>
            <a:r>
              <a:rPr lang="en-US" sz="3799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100% Offline &amp; Private: Protects proprietary hardware schematics with no cloud dependencies.</a:t>
            </a:r>
          </a:p>
          <a:p>
            <a:pPr algn="ctr">
              <a:lnSpc>
                <a:spcPts val="4749"/>
              </a:lnSpc>
            </a:pPr>
          </a:p>
          <a:p>
            <a:pPr algn="ctr" marL="820416" indent="-410208" lvl="1">
              <a:lnSpc>
                <a:spcPts val="4749"/>
              </a:lnSpc>
              <a:buFont typeface="Arial"/>
              <a:buChar char="•"/>
            </a:pPr>
            <a:r>
              <a:rPr lang="en-US" sz="3799">
                <a:solidFill>
                  <a:srgbClr val="30447D"/>
                </a:solidFill>
                <a:latin typeface="Benne"/>
                <a:ea typeface="Benne"/>
                <a:cs typeface="Benne"/>
                <a:sym typeface="Benne"/>
              </a:rPr>
              <a:t>Next Steps: Reverse-engineering PCB trace schematics and thermal defect detection.</a:t>
            </a:r>
          </a:p>
          <a:p>
            <a:pPr algn="ctr">
              <a:lnSpc>
                <a:spcPts val="474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243957" y="1417365"/>
            <a:ext cx="12163488" cy="227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sz="8000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Evaluat</a:t>
            </a:r>
            <a:r>
              <a:rPr lang="en-US" sz="8000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ion &amp; Summary</a:t>
            </a:r>
          </a:p>
          <a:p>
            <a:pPr algn="ctr">
              <a:lnSpc>
                <a:spcPts val="888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415174" y="6963532"/>
            <a:ext cx="315056" cy="31505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58805" y="6963532"/>
            <a:ext cx="315056" cy="31505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01077" y="0"/>
            <a:ext cx="11861321" cy="10287000"/>
          </a:xfrm>
          <a:custGeom>
            <a:avLst/>
            <a:gdLst/>
            <a:ahLst/>
            <a:cxnLst/>
            <a:rect r="r" b="b" t="t" l="l"/>
            <a:pathLst>
              <a:path h="10287000" w="11861321">
                <a:moveTo>
                  <a:pt x="0" y="0"/>
                </a:moveTo>
                <a:lnTo>
                  <a:pt x="11861320" y="0"/>
                </a:lnTo>
                <a:lnTo>
                  <a:pt x="118613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52609" y="9258300"/>
            <a:ext cx="5064805" cy="683749"/>
          </a:xfrm>
          <a:custGeom>
            <a:avLst/>
            <a:gdLst/>
            <a:ahLst/>
            <a:cxnLst/>
            <a:rect r="r" b="b" t="t" l="l"/>
            <a:pathLst>
              <a:path h="683749" w="5064805">
                <a:moveTo>
                  <a:pt x="0" y="0"/>
                </a:moveTo>
                <a:lnTo>
                  <a:pt x="5064804" y="0"/>
                </a:lnTo>
                <a:lnTo>
                  <a:pt x="5064804" y="683749"/>
                </a:lnTo>
                <a:lnTo>
                  <a:pt x="0" y="6837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827774">
            <a:off x="4116856" y="3539435"/>
            <a:ext cx="9128820" cy="455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14"/>
              </a:lnSpc>
            </a:pPr>
            <a:r>
              <a:rPr lang="en-US" sz="18617">
                <a:solidFill>
                  <a:srgbClr val="30447D"/>
                </a:solidFill>
                <a:latin typeface="Sriracha"/>
                <a:ea typeface="Sriracha"/>
                <a:cs typeface="Sriracha"/>
                <a:sym typeface="Sriracha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54496" y="1210580"/>
            <a:ext cx="2762018" cy="1326920"/>
          </a:xfrm>
          <a:custGeom>
            <a:avLst/>
            <a:gdLst/>
            <a:ahLst/>
            <a:cxnLst/>
            <a:rect r="r" b="b" t="t" l="l"/>
            <a:pathLst>
              <a:path h="1326920" w="2762018">
                <a:moveTo>
                  <a:pt x="0" y="0"/>
                </a:moveTo>
                <a:lnTo>
                  <a:pt x="2762018" y="0"/>
                </a:lnTo>
                <a:lnTo>
                  <a:pt x="2762018" y="1326919"/>
                </a:lnTo>
                <a:lnTo>
                  <a:pt x="0" y="1326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34499" y="2102125"/>
            <a:ext cx="3613169" cy="1725288"/>
          </a:xfrm>
          <a:custGeom>
            <a:avLst/>
            <a:gdLst/>
            <a:ahLst/>
            <a:cxnLst/>
            <a:rect r="r" b="b" t="t" l="l"/>
            <a:pathLst>
              <a:path h="1725288" w="3613169">
                <a:moveTo>
                  <a:pt x="0" y="0"/>
                </a:moveTo>
                <a:lnTo>
                  <a:pt x="3613169" y="0"/>
                </a:lnTo>
                <a:lnTo>
                  <a:pt x="3613169" y="1725288"/>
                </a:lnTo>
                <a:lnTo>
                  <a:pt x="0" y="17252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00918" y="4973051"/>
            <a:ext cx="5740567" cy="5448320"/>
          </a:xfrm>
          <a:custGeom>
            <a:avLst/>
            <a:gdLst/>
            <a:ahLst/>
            <a:cxnLst/>
            <a:rect r="r" b="b" t="t" l="l"/>
            <a:pathLst>
              <a:path h="5448320" w="5740567">
                <a:moveTo>
                  <a:pt x="0" y="0"/>
                </a:moveTo>
                <a:lnTo>
                  <a:pt x="5740567" y="0"/>
                </a:lnTo>
                <a:lnTo>
                  <a:pt x="5740567" y="5448320"/>
                </a:lnTo>
                <a:lnTo>
                  <a:pt x="0" y="54483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800324" y="5234997"/>
            <a:ext cx="5549622" cy="5186374"/>
          </a:xfrm>
          <a:custGeom>
            <a:avLst/>
            <a:gdLst/>
            <a:ahLst/>
            <a:cxnLst/>
            <a:rect r="r" b="b" t="t" l="l"/>
            <a:pathLst>
              <a:path h="5186374" w="5549622">
                <a:moveTo>
                  <a:pt x="5549622" y="0"/>
                </a:moveTo>
                <a:lnTo>
                  <a:pt x="0" y="0"/>
                </a:lnTo>
                <a:lnTo>
                  <a:pt x="0" y="5186374"/>
                </a:lnTo>
                <a:lnTo>
                  <a:pt x="5549622" y="5186374"/>
                </a:lnTo>
                <a:lnTo>
                  <a:pt x="5549622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-2957204" y="1174314"/>
            <a:ext cx="6531454" cy="2291946"/>
          </a:xfrm>
          <a:custGeom>
            <a:avLst/>
            <a:gdLst/>
            <a:ahLst/>
            <a:cxnLst/>
            <a:rect r="r" b="b" t="t" l="l"/>
            <a:pathLst>
              <a:path h="2291946" w="6531454">
                <a:moveTo>
                  <a:pt x="0" y="2291947"/>
                </a:moveTo>
                <a:lnTo>
                  <a:pt x="6531453" y="2291947"/>
                </a:lnTo>
                <a:lnTo>
                  <a:pt x="6531453" y="0"/>
                </a:lnTo>
                <a:lnTo>
                  <a:pt x="0" y="0"/>
                </a:lnTo>
                <a:lnTo>
                  <a:pt x="0" y="2291947"/>
                </a:lnTo>
                <a:close/>
              </a:path>
            </a:pathLst>
          </a:custGeom>
          <a:blipFill>
            <a:blip r:embed="rId9">
              <a:alphaModFix amt="53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406982">
            <a:off x="14057457" y="-655673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3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874109" y="5932467"/>
            <a:ext cx="200756" cy="2007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89737" y="5932467"/>
            <a:ext cx="200756" cy="20075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067172" y="5947120"/>
            <a:ext cx="315056" cy="31505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75573" y="5932467"/>
            <a:ext cx="315056" cy="31505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5B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DAHU6mNyhFk</dc:identifier>
  <dcterms:modified xsi:type="dcterms:W3CDTF">2011-08-01T06:04:30Z</dcterms:modified>
  <cp:revision>1</cp:revision>
  <dc:title>Blue White Playful Illustrated Science Electric Circuit Group Project Presentation</dc:title>
</cp:coreProperties>
</file>